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148840"/>
            <a:ext cx="2843784" cy="10972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72584" y="2148840"/>
            <a:ext cx="2843784" cy="10972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16368" y="2148840"/>
            <a:ext cx="2843784" cy="10972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¿Es real o falso?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CFDCEC"/>
                </a:solidFill>
              </a:rPr>
              <a:t>Distinguir un accidente real de una falsa alarma — y descubrir dónde ocurren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DDE6F0"/>
                </a:solidFill>
              </a:rPr>
              <a:t>Proyecto Final · Almacenes y Minería de Datos · Facultad de Ciencias, UNAM</a:t>
            </a:r>
          </a:p>
          <a:p>
            <a:pPr algn="ctr"/>
            <a:r>
              <a:rPr sz="1500">
                <a:solidFill>
                  <a:srgbClr val="DDE6F0"/>
                </a:solidFill>
              </a:rPr>
              <a:t>José Rubén Alfaro González · Cuenta 320516436</a:t>
            </a:r>
          </a:p>
          <a:p>
            <a:pPr algn="ctr"/>
            <a:r>
              <a:rPr sz="1300">
                <a:solidFill>
                  <a:srgbClr val="DDE6F0"/>
                </a:solidFill>
              </a:rPr>
              <a:t>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El problema, en una frase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1153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El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C5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recibe cientos de miles de reportes de accidentes viales al año.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Más de 1 de cada 3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resulta ser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falso o una falsa alarma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Mandar una unidad a un reporte que no era real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gasta un recurso escaso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y resta capacidad para las emergencias verdaderas.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Nuestra meta: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estimar, al entrar el reporte, qué tan probable es que sea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real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— y descubrir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en qué calles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se concentran los accidentes.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Los datos que usamos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1153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Reportes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reales y públicos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del C5 de la Ciudad de México (2022–2024).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Cerca de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290 mil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reportes después de la limpieza.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De cada uno sabemos: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por qué canal llegó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(911, cámara, botón de auxilio…),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qué tipo de accidente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a qué hora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y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dónde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Un reporte que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repite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uno ya atendido lo dejamos fuera: eso es trabajo del sistema de despacho, no de la predicción.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Hallazgo 1: el canal dice mucho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8978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Lo que entra por canales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del propio C5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casi siempre es real: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radio y cámara, ~9 de cada 10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;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botón de auxilio, ~9 de cada 10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La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llamada al 911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—la gran mayoría— resulta real solo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6 de cada 10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Idea clave: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confiar casi directo en lo institucional y poner la lupa en las llamadas ciudadanas, donde está la duda.</a:t>
            </a:r>
          </a:p>
        </p:txBody>
      </p:sp>
      <p:pic>
        <p:nvPicPr>
          <p:cNvPr id="9" name="Picture 8" descr="01_fuente_confirm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663440" cy="24248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Hallazgo 2: la hora también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8978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De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madrugada y mañana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, la mayoría son reales (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~7 de cada 10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Por la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tarde y noche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baja (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~6 de cada 10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)… y es cuando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más reportes llegan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Las horas de mayor volumen son también las de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mayor ruido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01_franja_confirm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663440" cy="24430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¿Qué tan bien predice el modelo?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Elegimos un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bosque de decisiones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(</a:t>
            </a:r>
            <a:r>
              <a:rPr sz="1800" b="0" i="1">
                <a:solidFill>
                  <a:srgbClr val="333333"/>
                </a:solidFill>
                <a:latin typeface="Calibri"/>
              </a:rPr>
              <a:t>Random Forest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: muchos árboles que votan). Así se compara contra lo que pasaría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sin modelo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0887" y="2286000"/>
          <a:ext cx="10789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Sin modelo (“todo es real”)</a:t>
                      </a:r>
                    </a:p>
                  </a:txBody>
                  <a:tcPr anchor="ctr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Con nuestro modelo</a:t>
                      </a:r>
                    </a:p>
                  </a:txBody>
                  <a:tcPr anchor="ctr" marT="50800" marB="50800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Aciertos generales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~63 de cada 100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~67 de cada 100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Falsas alarmas detectadas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0  (ninguna)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~2 de cada 3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846320"/>
            <a:ext cx="1091153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El gran salto es ese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filtro de falsas alarmas que antes no existía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</a:rPr>
              <a:t>• 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Una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red neuronal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empata, pero detecta menos falsos: preferimos el bosque.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¿En qué se fija para decidir?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8978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Lo que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más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le ayuda es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qué tipo de accidente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es y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por qué canal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llegó.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Mucho más que la hora o el lugar exactos.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Tiene sentido: una cámara o un botón suelen ir con eventos confirmados; las llamadas son más variadas.</a:t>
            </a:r>
          </a:p>
        </p:txBody>
      </p:sp>
      <p:pic>
        <p:nvPicPr>
          <p:cNvPr id="9" name="Picture 8" descr="02_importancia_permut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663440" cy="29580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Jugamos limpio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1153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Nos cuidamos de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no darle al modelo información que solo se conoce después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de atender el caso (por ejemplo, cuánto tardó en cerrarse).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Si lo hiciéramos, parecería más listo… pero sería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“hacer trampa” mirando el futuro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: en la vida real esa información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no existe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cuando llega el reporte.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Por eso nuestros resultados son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honestos y reproducibles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¿Dónde ocurren los accidentes?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8978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Agrupamos los incidentes por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zonas de alta concentración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(método </a:t>
            </a:r>
            <a:r>
              <a:rPr sz="1800" b="0" i="1">
                <a:solidFill>
                  <a:srgbClr val="333333"/>
                </a:solidFill>
                <a:latin typeface="Calibri"/>
              </a:rPr>
              <a:t>DBSCAN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Aparecen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puntos calientes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sobre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avenidas reconocibles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: Circuito Interior, Calz. Ignacio Zaragoza, Distribuidor Vial San Antonio…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Dato curioso: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en las avenidas más saturadas, una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mayor proporción resulta falsa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→ conviene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verificarlas más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figura_dbscan_vial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71600"/>
            <a:ext cx="4663440" cy="46672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Cómo está hecho por dentro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Organizamos el programa como una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línea de montaje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(patrón de diseño </a:t>
            </a:r>
            <a:r>
              <a:rPr sz="1500" b="0" i="1">
                <a:solidFill>
                  <a:srgbClr val="333333"/>
                </a:solidFill>
                <a:latin typeface="Calibri"/>
              </a:rPr>
              <a:t>Pipeline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): cada etapa hace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una tarea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—limpiar, preparar, predecir— y se encadena.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Ventaja: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ordenado, reutilizable y fácil de revisar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. El diagrama es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mapa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del código.</a:t>
            </a:r>
          </a:p>
        </p:txBody>
      </p:sp>
      <p:pic>
        <p:nvPicPr>
          <p:cNvPr id="9" name="Picture 8" descr="uml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16" y="2606040"/>
            <a:ext cx="66039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Guardamos el modelo entrenado y lo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volvemos a usar sin re-entrenar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: le damos un reporte nuevo y dice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qué tan probable es que sea real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75207" y="2286000"/>
          <a:ext cx="10241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Reporte nuevo</a:t>
                      </a:r>
                    </a:p>
                  </a:txBody>
                  <a:tcPr anchor="ctr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Probabilidad de ser real</a:t>
                      </a:r>
                    </a:p>
                  </a:txBody>
                  <a:tcPr anchor="ctr" marT="50800" marB="50800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Cámara · zona centro · choque con lesionados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81 %  →  atender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Llamada al 911 · periferia · de madrugada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36 %  →  dudoso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Botón de auxilio · choque con lesionados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333333"/>
                          </a:solidFill>
                          <a:latin typeface="Calibri"/>
                        </a:rPr>
                        <a:t>90 %  →  atender</a:t>
                      </a:r>
                    </a:p>
                  </a:txBody>
                  <a:tcPr anchor="ctr" marT="50800" marB="50800">
                    <a:solidFill>
                      <a:srgbClr val="ECF1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3A5F"/>
                </a:solidFill>
              </a:rPr>
              <a:t>•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En vivo: cargamos el modelo y predecimos un caso; y abrimos el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mapa interactivo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de la ciudad.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3A5F"/>
                </a:solidFill>
                <a:latin typeface="Calibri"/>
              </a:rPr>
              <a:t>En resumen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3637178" cy="64008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258" y="1078992"/>
            <a:ext cx="3637178" cy="64008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14436" y="1078992"/>
            <a:ext cx="3637178" cy="64008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115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A8A"/>
                </a:solidFill>
              </a:rPr>
              <a:t>Triage de reportes viales del C5  ·  UNAM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8A8A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11535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Quién y cómo reporta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dice mucho: lo institucional es muy confiable; la llamada al 911 es donde está la duda.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El modelo aporta algo que antes no existía: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un filtro de falsas alarmas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que atrapa ~2 de cada 3, sin perder los reales.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Sabemos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en qué avenidas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se concentran los accidentes y cuáles necesitan más verificación.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</a:rPr>
              <a:t>• 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Límites: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dependemos de cómo el C5 etiqueta los reportes y de los datos 2022–2024; faltaría contexto (clima, tráfico, qué dijo la llamada).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¡Gracias!</a:t>
            </a:r>
          </a:p>
          <a:p>
            <a:pPr algn="ctr">
              <a:spcBef>
                <a:spcPts val="1000"/>
              </a:spcBef>
            </a:pPr>
            <a:r>
              <a:rPr sz="1800">
                <a:solidFill>
                  <a:srgbClr val="DDE6F0"/>
                </a:solidFill>
              </a:rPr>
              <a:t>Repositorio:  github.com/Rou-uu/proyectoFinalAyM</a:t>
            </a:r>
          </a:p>
          <a:p>
            <a:pPr algn="ctr">
              <a:spcBef>
                <a:spcPts val="1000"/>
              </a:spcBef>
            </a:pPr>
            <a:r>
              <a:rPr sz="1800">
                <a:solidFill>
                  <a:srgbClr val="DDE6F0"/>
                </a:solidFill>
              </a:rPr>
              <a:t>Sitio del proyecto:  rou-uu.github.io/proyectoFinalAyM</a:t>
            </a:r>
          </a:p>
          <a:p>
            <a:pPr algn="ctr">
              <a:spcBef>
                <a:spcPts val="1000"/>
              </a:spcBef>
            </a:pPr>
            <a:r>
              <a:rPr sz="1800">
                <a:solidFill>
                  <a:srgbClr val="DDE6F0"/>
                </a:solidFill>
              </a:rPr>
              <a:t>¿Preguntas?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6035040"/>
            <a:ext cx="2234184" cy="91440"/>
          </a:xfrm>
          <a:prstGeom prst="rect">
            <a:avLst/>
          </a:prstGeom>
          <a:solidFill>
            <a:srgbClr val="E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77384" y="6035040"/>
            <a:ext cx="2234184" cy="91440"/>
          </a:xfrm>
          <a:prstGeom prst="rect">
            <a:avLst/>
          </a:prstGeom>
          <a:solidFill>
            <a:srgbClr val="F2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11568" y="6035040"/>
            <a:ext cx="2234184" cy="91440"/>
          </a:xfrm>
          <a:prstGeom prst="rect">
            <a:avLst/>
          </a:prstGeom>
          <a:solidFill>
            <a:srgbClr val="3BA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