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MX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D2300B7-5F25-43E1-AC4D-632B81D82DB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MX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370D61B-FC35-4541-A7C8-FAA0355AFF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MX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B921F4B-AC38-4A43-AA68-C343E641E94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MX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94504AF-7793-4549-A480-A70A0582AF4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MX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B2CF570-555A-453F-8AF8-1131A9D04A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MX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22C30A0-C25A-4859-A1F1-D0576FE29A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MX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3BB3A9-8000-471A-B073-783CD9DFB78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MX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299A41F-03F8-4348-A581-18C5FC467E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MX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18ABF8D-A9D4-4398-A34A-2735EA1190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MX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3F048EA-9A4E-49B6-A35A-D97F8C06AE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MX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MX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E857324-0508-4E28-A95D-9DD4EDE679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MX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1828800" y="2148840"/>
            <a:ext cx="2843280" cy="109440"/>
          </a:xfrm>
          <a:prstGeom prst="rect">
            <a:avLst/>
          </a:prstGeom>
          <a:solidFill>
            <a:srgbClr val="E04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4672440" y="2148840"/>
            <a:ext cx="2843280" cy="109440"/>
          </a:xfrm>
          <a:prstGeom prst="rect">
            <a:avLst/>
          </a:prstGeom>
          <a:solidFill>
            <a:srgbClr val="F2B3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7516440" y="2148840"/>
            <a:ext cx="2843280" cy="109440"/>
          </a:xfrm>
          <a:prstGeom prst="rect">
            <a:avLst/>
          </a:prstGeom>
          <a:solidFill>
            <a:srgbClr val="3BA7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914400" y="2468880"/>
            <a:ext cx="10359720" cy="11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Reportes del C5</a:t>
            </a:r>
            <a:endParaRPr lang="es-MX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601"/>
              </a:spcBef>
            </a:pPr>
            <a:r>
              <a:rPr lang="en-US" sz="2000" b="0" u="none" strike="noStrike">
                <a:solidFill>
                  <a:srgbClr val="CFDCEC"/>
                </a:solidFill>
                <a:effectLst/>
                <a:uFillTx/>
                <a:latin typeface="Calibri"/>
              </a:rPr>
              <a:t>Distinguir un accidente real de una falsa alarma — y descubrir dónde ocurren</a:t>
            </a:r>
            <a:endParaRPr lang="es-MX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914400" y="5029200"/>
            <a:ext cx="103597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DE6F0"/>
                </a:solidFill>
                <a:effectLst/>
                <a:uFillTx/>
                <a:latin typeface="Calibri"/>
              </a:rPr>
              <a:t>Proyecto Final · Almacenes y Minería de Datos · Facultad de Ciencias, UNAM</a:t>
            </a:r>
            <a:endParaRPr lang="es-MX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DE6F0"/>
                </a:solidFill>
                <a:effectLst/>
                <a:uFillTx/>
                <a:latin typeface="Calibri"/>
              </a:rPr>
              <a:t>José Rubén Alfaro González · Cuenta 320516436</a:t>
            </a:r>
            <a:endParaRPr lang="es-MX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DDE6F0"/>
                </a:solidFill>
                <a:effectLst/>
                <a:uFillTx/>
                <a:latin typeface="Calibri"/>
              </a:rPr>
              <a:t>Junio de 2026</a:t>
            </a:r>
            <a:endParaRPr lang="es-MX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1"/>
          <p:cNvSpPr/>
          <p:nvPr/>
        </p:nvSpPr>
        <p:spPr>
          <a:xfrm>
            <a:off x="640080" y="292680"/>
            <a:ext cx="10911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El problema, en una frase</a:t>
            </a:r>
            <a:endParaRPr lang="es-MX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ectangle 2"/>
          <p:cNvSpPr/>
          <p:nvPr/>
        </p:nvSpPr>
        <p:spPr>
          <a:xfrm>
            <a:off x="640080" y="1078920"/>
            <a:ext cx="3636720" cy="63720"/>
          </a:xfrm>
          <a:prstGeom prst="rect">
            <a:avLst/>
          </a:prstGeom>
          <a:solidFill>
            <a:srgbClr val="E04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ectangle 3"/>
          <p:cNvSpPr/>
          <p:nvPr/>
        </p:nvSpPr>
        <p:spPr>
          <a:xfrm>
            <a:off x="4277160" y="1078920"/>
            <a:ext cx="3636720" cy="63720"/>
          </a:xfrm>
          <a:prstGeom prst="rect">
            <a:avLst/>
          </a:prstGeom>
          <a:solidFill>
            <a:srgbClr val="F2B3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Rectangle 4"/>
          <p:cNvSpPr/>
          <p:nvPr/>
        </p:nvSpPr>
        <p:spPr>
          <a:xfrm>
            <a:off x="7914600" y="1078920"/>
            <a:ext cx="3636720" cy="63720"/>
          </a:xfrm>
          <a:prstGeom prst="rect">
            <a:avLst/>
          </a:prstGeom>
          <a:solidFill>
            <a:srgbClr val="3BA7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5"/>
          <p:cNvSpPr/>
          <p:nvPr/>
        </p:nvSpPr>
        <p:spPr>
          <a:xfrm>
            <a:off x="640080" y="6473880"/>
            <a:ext cx="1091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Triage de reportes viales del C5  ·  UNAM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6"/>
          <p:cNvSpPr/>
          <p:nvPr/>
        </p:nvSpPr>
        <p:spPr>
          <a:xfrm>
            <a:off x="1118592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2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7"/>
          <p:cNvSpPr/>
          <p:nvPr/>
        </p:nvSpPr>
        <p:spPr>
          <a:xfrm>
            <a:off x="640080" y="1325880"/>
            <a:ext cx="1091124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El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C5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recibe cientos de miles de reportes de accidentes viales al año.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Más de 1 de cada 3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resulta ser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falso o una falsa alarma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Mandar una unidad a un reporte que no era real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gasta un recurso escaso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y resta capacidad para las emergencias verdaderas.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Nuestra meta: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estimar, al entrar el reporte, qué tan probable es que sea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real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— y descubrir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en qué calles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se concentran los accidentes.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1"/>
          <p:cNvSpPr/>
          <p:nvPr/>
        </p:nvSpPr>
        <p:spPr>
          <a:xfrm>
            <a:off x="640080" y="292680"/>
            <a:ext cx="10911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Los datos que usamos</a:t>
            </a:r>
            <a:endParaRPr lang="es-MX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2"/>
          <p:cNvSpPr/>
          <p:nvPr/>
        </p:nvSpPr>
        <p:spPr>
          <a:xfrm>
            <a:off x="640080" y="1078920"/>
            <a:ext cx="3636720" cy="63720"/>
          </a:xfrm>
          <a:prstGeom prst="rect">
            <a:avLst/>
          </a:prstGeom>
          <a:solidFill>
            <a:srgbClr val="E04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ectangle 3"/>
          <p:cNvSpPr/>
          <p:nvPr/>
        </p:nvSpPr>
        <p:spPr>
          <a:xfrm>
            <a:off x="4277160" y="1078920"/>
            <a:ext cx="3636720" cy="63720"/>
          </a:xfrm>
          <a:prstGeom prst="rect">
            <a:avLst/>
          </a:prstGeom>
          <a:solidFill>
            <a:srgbClr val="F2B3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Rectangle 4"/>
          <p:cNvSpPr/>
          <p:nvPr/>
        </p:nvSpPr>
        <p:spPr>
          <a:xfrm>
            <a:off x="7914600" y="1078920"/>
            <a:ext cx="3636720" cy="63720"/>
          </a:xfrm>
          <a:prstGeom prst="rect">
            <a:avLst/>
          </a:prstGeom>
          <a:solidFill>
            <a:srgbClr val="3BA7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640080" y="6473880"/>
            <a:ext cx="1091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Triage de reportes viales del C5  ·  UNAM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6"/>
          <p:cNvSpPr/>
          <p:nvPr/>
        </p:nvSpPr>
        <p:spPr>
          <a:xfrm>
            <a:off x="1118592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3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7"/>
          <p:cNvSpPr/>
          <p:nvPr/>
        </p:nvSpPr>
        <p:spPr>
          <a:xfrm>
            <a:off x="640080" y="1325880"/>
            <a:ext cx="1091124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Reportes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reales y públicos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del C5 de la Ciudad de México (2022–2024).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Cerca de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290 mil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reportes después de la limpieza.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De cada uno sabemos: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por qué canal llegó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(911, cámara, botón de auxilio…),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qué tipo de accidente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,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 qué hora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y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dónde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Un reporte que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repite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uno ya atendido lo dejamos fuera: eso es trabajo del sistema de despacho, no de la predicción.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1"/>
          <p:cNvSpPr/>
          <p:nvPr/>
        </p:nvSpPr>
        <p:spPr>
          <a:xfrm>
            <a:off x="640080" y="292680"/>
            <a:ext cx="10911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Hallazgo 1: el canal dice mucho</a:t>
            </a:r>
            <a:endParaRPr lang="es-MX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2"/>
          <p:cNvSpPr/>
          <p:nvPr/>
        </p:nvSpPr>
        <p:spPr>
          <a:xfrm>
            <a:off x="640080" y="1078920"/>
            <a:ext cx="3636720" cy="63720"/>
          </a:xfrm>
          <a:prstGeom prst="rect">
            <a:avLst/>
          </a:prstGeom>
          <a:solidFill>
            <a:srgbClr val="E04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ectangle 3"/>
          <p:cNvSpPr/>
          <p:nvPr/>
        </p:nvSpPr>
        <p:spPr>
          <a:xfrm>
            <a:off x="4277160" y="1078920"/>
            <a:ext cx="3636720" cy="63720"/>
          </a:xfrm>
          <a:prstGeom prst="rect">
            <a:avLst/>
          </a:prstGeom>
          <a:solidFill>
            <a:srgbClr val="F2B3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Rectangle 4"/>
          <p:cNvSpPr/>
          <p:nvPr/>
        </p:nvSpPr>
        <p:spPr>
          <a:xfrm>
            <a:off x="7914600" y="1078920"/>
            <a:ext cx="3636720" cy="63720"/>
          </a:xfrm>
          <a:prstGeom prst="rect">
            <a:avLst/>
          </a:prstGeom>
          <a:solidFill>
            <a:srgbClr val="3BA7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5"/>
          <p:cNvSpPr/>
          <p:nvPr/>
        </p:nvSpPr>
        <p:spPr>
          <a:xfrm>
            <a:off x="640080" y="6473880"/>
            <a:ext cx="1091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Triage de reportes viales del C5  ·  UNAM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6"/>
          <p:cNvSpPr/>
          <p:nvPr/>
        </p:nvSpPr>
        <p:spPr>
          <a:xfrm>
            <a:off x="1118592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4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7"/>
          <p:cNvSpPr/>
          <p:nvPr/>
        </p:nvSpPr>
        <p:spPr>
          <a:xfrm>
            <a:off x="640080" y="1417320"/>
            <a:ext cx="589752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Lo que entra por canales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del propio C5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casi siempre es real: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radio y cámara, ~9 de cada 10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;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botón de auxilio, ~9 de cada 10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La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llamada al 911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—la gran mayoría— resulta real solo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6 de cada 10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Idea clave: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confiar casi directo en lo institucional y poner la lupa en las llamadas ciudadanas, donde está la duda.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Picture 8" descr="01_fuente_confirmacion.png"/>
          <p:cNvPicPr/>
          <p:nvPr/>
        </p:nvPicPr>
        <p:blipFill>
          <a:blip r:embed="rId1"/>
          <a:stretch/>
        </p:blipFill>
        <p:spPr>
          <a:xfrm>
            <a:off x="6903720" y="1371600"/>
            <a:ext cx="4663080" cy="242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Box 1"/>
          <p:cNvSpPr/>
          <p:nvPr/>
        </p:nvSpPr>
        <p:spPr>
          <a:xfrm>
            <a:off x="640080" y="292680"/>
            <a:ext cx="10911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Hallazgo 2: la hora también importa</a:t>
            </a:r>
            <a:endParaRPr lang="es-MX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2"/>
          <p:cNvSpPr/>
          <p:nvPr/>
        </p:nvSpPr>
        <p:spPr>
          <a:xfrm>
            <a:off x="640080" y="1078920"/>
            <a:ext cx="3636720" cy="63720"/>
          </a:xfrm>
          <a:prstGeom prst="rect">
            <a:avLst/>
          </a:prstGeom>
          <a:solidFill>
            <a:srgbClr val="E04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Rectangle 3"/>
          <p:cNvSpPr/>
          <p:nvPr/>
        </p:nvSpPr>
        <p:spPr>
          <a:xfrm>
            <a:off x="4277160" y="1078920"/>
            <a:ext cx="3636720" cy="63720"/>
          </a:xfrm>
          <a:prstGeom prst="rect">
            <a:avLst/>
          </a:prstGeom>
          <a:solidFill>
            <a:srgbClr val="F2B3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Rectangle 4"/>
          <p:cNvSpPr/>
          <p:nvPr/>
        </p:nvSpPr>
        <p:spPr>
          <a:xfrm>
            <a:off x="7914600" y="1078920"/>
            <a:ext cx="3636720" cy="63720"/>
          </a:xfrm>
          <a:prstGeom prst="rect">
            <a:avLst/>
          </a:prstGeom>
          <a:solidFill>
            <a:srgbClr val="3BA7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5"/>
          <p:cNvSpPr/>
          <p:nvPr/>
        </p:nvSpPr>
        <p:spPr>
          <a:xfrm>
            <a:off x="640080" y="6473880"/>
            <a:ext cx="1091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Triage de reportes viales del C5  ·  UNAM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6"/>
          <p:cNvSpPr/>
          <p:nvPr/>
        </p:nvSpPr>
        <p:spPr>
          <a:xfrm>
            <a:off x="1118592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5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7"/>
          <p:cNvSpPr/>
          <p:nvPr/>
        </p:nvSpPr>
        <p:spPr>
          <a:xfrm>
            <a:off x="640080" y="1417320"/>
            <a:ext cx="589752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De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madrugada y mañana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, la mayoría son reales (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~7 de cada 10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).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Por la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tarde y noche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baja (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~6 de cada 10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)… y es cuando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más reportes llegan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Las horas de mayor volumen son también las de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mayor ruido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Picture 8" descr="01_franja_confirmacion.png"/>
          <p:cNvPicPr/>
          <p:nvPr/>
        </p:nvPicPr>
        <p:blipFill>
          <a:blip r:embed="rId1"/>
          <a:stretch/>
        </p:blipFill>
        <p:spPr>
          <a:xfrm>
            <a:off x="6903720" y="1371600"/>
            <a:ext cx="4663080" cy="244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Box 1"/>
          <p:cNvSpPr/>
          <p:nvPr/>
        </p:nvSpPr>
        <p:spPr>
          <a:xfrm>
            <a:off x="640080" y="292680"/>
            <a:ext cx="10911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¿Qué tan bien predice el modelo?</a:t>
            </a:r>
            <a:endParaRPr lang="es-MX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ectangle 2"/>
          <p:cNvSpPr/>
          <p:nvPr/>
        </p:nvSpPr>
        <p:spPr>
          <a:xfrm>
            <a:off x="640080" y="1078920"/>
            <a:ext cx="3636720" cy="63720"/>
          </a:xfrm>
          <a:prstGeom prst="rect">
            <a:avLst/>
          </a:prstGeom>
          <a:solidFill>
            <a:srgbClr val="E04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Rectangle 3"/>
          <p:cNvSpPr/>
          <p:nvPr/>
        </p:nvSpPr>
        <p:spPr>
          <a:xfrm>
            <a:off x="4277160" y="1078920"/>
            <a:ext cx="3636720" cy="63720"/>
          </a:xfrm>
          <a:prstGeom prst="rect">
            <a:avLst/>
          </a:prstGeom>
          <a:solidFill>
            <a:srgbClr val="F2B3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4"/>
          <p:cNvSpPr/>
          <p:nvPr/>
        </p:nvSpPr>
        <p:spPr>
          <a:xfrm>
            <a:off x="7914600" y="1078920"/>
            <a:ext cx="3636720" cy="63720"/>
          </a:xfrm>
          <a:prstGeom prst="rect">
            <a:avLst/>
          </a:prstGeom>
          <a:solidFill>
            <a:srgbClr val="3BA7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5"/>
          <p:cNvSpPr/>
          <p:nvPr/>
        </p:nvSpPr>
        <p:spPr>
          <a:xfrm>
            <a:off x="640080" y="6473880"/>
            <a:ext cx="1091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Triage de reportes viales del C5  ·  UNAM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6"/>
          <p:cNvSpPr/>
          <p:nvPr/>
        </p:nvSpPr>
        <p:spPr>
          <a:xfrm>
            <a:off x="1118592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6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7"/>
          <p:cNvSpPr/>
          <p:nvPr/>
        </p:nvSpPr>
        <p:spPr>
          <a:xfrm>
            <a:off x="640080" y="1280160"/>
            <a:ext cx="1091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Elegimos un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bosque de decisiones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(</a:t>
            </a:r>
            <a:r>
              <a:rPr lang="en-US" sz="1800" b="0" i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Random Forest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: muchos árboles que votan). Así se compara contra lo que pasaría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sin modelo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: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3" name="Table 8"/>
          <p:cNvGraphicFramePr/>
          <p:nvPr/>
        </p:nvGraphicFramePr>
        <p:xfrm>
          <a:off x="700920" y="2286000"/>
          <a:ext cx="10789560" cy="150876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3840480"/>
              </a:tblGrid>
              <a:tr h="502920">
                <a:tc>
                  <a:txBody>
                    <a:bodyPr tIns="50760" bIns="50760" anchor="ctr">
                      <a:noAutofit/>
                    </a:bodyPr>
                    <a:p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tIns="50760" bIns="507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Sin modelo (“todo es real”)</a:t>
                      </a:r>
                      <a:endParaRPr lang="es-MX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tIns="50760" bIns="507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Con nuestro modelo</a:t>
                      </a:r>
                      <a:endParaRPr lang="es-MX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 tIns="50760" bIns="507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Aciertos generales</a:t>
                      </a:r>
                      <a:endParaRPr lang="es-MX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7"/>
                    </a:solidFill>
                  </a:tcPr>
                </a:tc>
                <a:tc>
                  <a:txBody>
                    <a:bodyPr tIns="50760" bIns="507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~63 de cada 100</a:t>
                      </a:r>
                      <a:endParaRPr lang="es-MX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7"/>
                    </a:solidFill>
                  </a:tcPr>
                </a:tc>
                <a:tc>
                  <a:txBody>
                    <a:bodyPr tIns="50760" bIns="507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~67 de cada 100</a:t>
                      </a:r>
                      <a:endParaRPr lang="es-MX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7"/>
                    </a:solidFill>
                  </a:tcPr>
                </a:tc>
              </a:tr>
              <a:tr h="502920">
                <a:tc>
                  <a:txBody>
                    <a:bodyPr tIns="50760" bIns="507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Falsas alarmas detectadas</a:t>
                      </a:r>
                      <a:endParaRPr lang="es-MX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50760" bIns="507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  (ninguna)</a:t>
                      </a:r>
                      <a:endParaRPr lang="es-MX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50760" bIns="507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~2 de cada 3</a:t>
                      </a:r>
                      <a:endParaRPr lang="es-MX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4" name="TextBox 9"/>
          <p:cNvSpPr/>
          <p:nvPr/>
        </p:nvSpPr>
        <p:spPr>
          <a:xfrm>
            <a:off x="640080" y="4846320"/>
            <a:ext cx="109112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6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El gran salto es ese </a:t>
            </a:r>
            <a:r>
              <a:rPr lang="en-US" sz="16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filtro de falsas alarmas que antes no existía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.</a:t>
            </a:r>
            <a:endParaRPr lang="es-MX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6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Una </a:t>
            </a:r>
            <a:r>
              <a:rPr lang="en-US" sz="16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red neuronal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empata, pero detecta menos falsos: preferimos el bosque.</a:t>
            </a:r>
            <a:endParaRPr lang="es-MX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Box 1"/>
          <p:cNvSpPr/>
          <p:nvPr/>
        </p:nvSpPr>
        <p:spPr>
          <a:xfrm>
            <a:off x="640080" y="292680"/>
            <a:ext cx="10911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¿En qué se fija para decidir?</a:t>
            </a:r>
            <a:endParaRPr lang="es-MX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ectangle 2"/>
          <p:cNvSpPr/>
          <p:nvPr/>
        </p:nvSpPr>
        <p:spPr>
          <a:xfrm>
            <a:off x="640080" y="1078920"/>
            <a:ext cx="3636720" cy="63720"/>
          </a:xfrm>
          <a:prstGeom prst="rect">
            <a:avLst/>
          </a:prstGeom>
          <a:solidFill>
            <a:srgbClr val="E04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Rectangle 3"/>
          <p:cNvSpPr/>
          <p:nvPr/>
        </p:nvSpPr>
        <p:spPr>
          <a:xfrm>
            <a:off x="4277160" y="1078920"/>
            <a:ext cx="3636720" cy="63720"/>
          </a:xfrm>
          <a:prstGeom prst="rect">
            <a:avLst/>
          </a:prstGeom>
          <a:solidFill>
            <a:srgbClr val="F2B3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Rectangle 4"/>
          <p:cNvSpPr/>
          <p:nvPr/>
        </p:nvSpPr>
        <p:spPr>
          <a:xfrm>
            <a:off x="7914600" y="1078920"/>
            <a:ext cx="3636720" cy="63720"/>
          </a:xfrm>
          <a:prstGeom prst="rect">
            <a:avLst/>
          </a:prstGeom>
          <a:solidFill>
            <a:srgbClr val="3BA7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5"/>
          <p:cNvSpPr/>
          <p:nvPr/>
        </p:nvSpPr>
        <p:spPr>
          <a:xfrm>
            <a:off x="640080" y="6473880"/>
            <a:ext cx="1091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Triage de reportes viales del C5  ·  UNAM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6"/>
          <p:cNvSpPr/>
          <p:nvPr/>
        </p:nvSpPr>
        <p:spPr>
          <a:xfrm>
            <a:off x="1118592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7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7"/>
          <p:cNvSpPr/>
          <p:nvPr/>
        </p:nvSpPr>
        <p:spPr>
          <a:xfrm>
            <a:off x="640080" y="1417320"/>
            <a:ext cx="589752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Lo que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más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le ayuda es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qué tipo de accidente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es y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por qué canal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llegó.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Mucho más que la hora o el lugar exactos.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Tiene sentido: una cámara o un botón suelen ir con eventos confirmados; las llamadas son más variadas.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Picture 8" descr="02_importancia_permutacion.png"/>
          <p:cNvPicPr/>
          <p:nvPr/>
        </p:nvPicPr>
        <p:blipFill>
          <a:blip r:embed="rId1"/>
          <a:stretch/>
        </p:blipFill>
        <p:spPr>
          <a:xfrm>
            <a:off x="6903720" y="1371600"/>
            <a:ext cx="4663080" cy="295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1"/>
          <p:cNvSpPr/>
          <p:nvPr/>
        </p:nvSpPr>
        <p:spPr>
          <a:xfrm>
            <a:off x="640080" y="292680"/>
            <a:ext cx="10911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Jugamos limpio</a:t>
            </a:r>
            <a:endParaRPr lang="es-MX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ectangle 2"/>
          <p:cNvSpPr/>
          <p:nvPr/>
        </p:nvSpPr>
        <p:spPr>
          <a:xfrm>
            <a:off x="640080" y="1078920"/>
            <a:ext cx="3636720" cy="63720"/>
          </a:xfrm>
          <a:prstGeom prst="rect">
            <a:avLst/>
          </a:prstGeom>
          <a:solidFill>
            <a:srgbClr val="E04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Rectangle 3"/>
          <p:cNvSpPr/>
          <p:nvPr/>
        </p:nvSpPr>
        <p:spPr>
          <a:xfrm>
            <a:off x="4277160" y="1078920"/>
            <a:ext cx="3636720" cy="63720"/>
          </a:xfrm>
          <a:prstGeom prst="rect">
            <a:avLst/>
          </a:prstGeom>
          <a:solidFill>
            <a:srgbClr val="F2B3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ectangle 4"/>
          <p:cNvSpPr/>
          <p:nvPr/>
        </p:nvSpPr>
        <p:spPr>
          <a:xfrm>
            <a:off x="7914600" y="1078920"/>
            <a:ext cx="3636720" cy="63720"/>
          </a:xfrm>
          <a:prstGeom prst="rect">
            <a:avLst/>
          </a:prstGeom>
          <a:solidFill>
            <a:srgbClr val="3BA7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5"/>
          <p:cNvSpPr/>
          <p:nvPr/>
        </p:nvSpPr>
        <p:spPr>
          <a:xfrm>
            <a:off x="640080" y="6473880"/>
            <a:ext cx="1091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Triage de reportes viales del C5  ·  UNAM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6"/>
          <p:cNvSpPr/>
          <p:nvPr/>
        </p:nvSpPr>
        <p:spPr>
          <a:xfrm>
            <a:off x="1118592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8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7"/>
          <p:cNvSpPr/>
          <p:nvPr/>
        </p:nvSpPr>
        <p:spPr>
          <a:xfrm>
            <a:off x="640080" y="1325880"/>
            <a:ext cx="1091124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Nos cuidamos de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no darle al modelo información que solo se conoce después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de atender el caso (por ejemplo, cuánto tardó en cerrarse).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Si lo hiciéramos, parecería más listo… pero sería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“hacer trampa” mirando el futuro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: en la vida real esa información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no existe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cuando llega el reporte.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Por eso nuestros resultados son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honestos y reproducibles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1"/>
          <p:cNvSpPr/>
          <p:nvPr/>
        </p:nvSpPr>
        <p:spPr>
          <a:xfrm>
            <a:off x="640080" y="292680"/>
            <a:ext cx="10911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¿Dónde ocurren los accidentes?</a:t>
            </a:r>
            <a:endParaRPr lang="es-MX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2"/>
          <p:cNvSpPr/>
          <p:nvPr/>
        </p:nvSpPr>
        <p:spPr>
          <a:xfrm>
            <a:off x="640080" y="1078920"/>
            <a:ext cx="3636720" cy="63720"/>
          </a:xfrm>
          <a:prstGeom prst="rect">
            <a:avLst/>
          </a:prstGeom>
          <a:solidFill>
            <a:srgbClr val="E04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Rectangle 3"/>
          <p:cNvSpPr/>
          <p:nvPr/>
        </p:nvSpPr>
        <p:spPr>
          <a:xfrm>
            <a:off x="4277160" y="1078920"/>
            <a:ext cx="3636720" cy="63720"/>
          </a:xfrm>
          <a:prstGeom prst="rect">
            <a:avLst/>
          </a:prstGeom>
          <a:solidFill>
            <a:srgbClr val="F2B3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4"/>
          <p:cNvSpPr/>
          <p:nvPr/>
        </p:nvSpPr>
        <p:spPr>
          <a:xfrm>
            <a:off x="7914600" y="1078920"/>
            <a:ext cx="3636720" cy="63720"/>
          </a:xfrm>
          <a:prstGeom prst="rect">
            <a:avLst/>
          </a:prstGeom>
          <a:solidFill>
            <a:srgbClr val="3BA7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5"/>
          <p:cNvSpPr/>
          <p:nvPr/>
        </p:nvSpPr>
        <p:spPr>
          <a:xfrm>
            <a:off x="640080" y="6473880"/>
            <a:ext cx="1091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Triage de reportes viales del C5  ·  UNAM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1118592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9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7"/>
          <p:cNvSpPr/>
          <p:nvPr/>
        </p:nvSpPr>
        <p:spPr>
          <a:xfrm>
            <a:off x="640080" y="1417320"/>
            <a:ext cx="589752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Agrupamos los incidentes por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zonas de alta concentración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(método </a:t>
            </a:r>
            <a:r>
              <a:rPr lang="en-US" sz="1800" b="0" i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DBSCAN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).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Aparecen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puntos calientes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sobre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avenidas reconocibles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: Circuito Interior, Calz. Ignacio Zaragoza, Distribuidor Vial San Antonio…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Dato curioso: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en las avenidas más saturadas, una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mayor proporción resulta falsa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→ conviene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verificarlas más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Picture 8" descr="figura_dbscan_vialidades.png"/>
          <p:cNvPicPr/>
          <p:nvPr/>
        </p:nvPicPr>
        <p:blipFill>
          <a:blip r:embed="rId1"/>
          <a:stretch/>
        </p:blipFill>
        <p:spPr>
          <a:xfrm>
            <a:off x="6903720" y="1371600"/>
            <a:ext cx="4663080" cy="4667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1"/>
          <p:cNvSpPr/>
          <p:nvPr/>
        </p:nvSpPr>
        <p:spPr>
          <a:xfrm>
            <a:off x="640080" y="292680"/>
            <a:ext cx="10911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Cómo está hecho por dentro</a:t>
            </a:r>
            <a:endParaRPr lang="es-MX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ectangle 2"/>
          <p:cNvSpPr/>
          <p:nvPr/>
        </p:nvSpPr>
        <p:spPr>
          <a:xfrm>
            <a:off x="640080" y="1078920"/>
            <a:ext cx="3636720" cy="63720"/>
          </a:xfrm>
          <a:prstGeom prst="rect">
            <a:avLst/>
          </a:prstGeom>
          <a:solidFill>
            <a:srgbClr val="E04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Rectangle 3"/>
          <p:cNvSpPr/>
          <p:nvPr/>
        </p:nvSpPr>
        <p:spPr>
          <a:xfrm>
            <a:off x="4277160" y="1078920"/>
            <a:ext cx="3636720" cy="63720"/>
          </a:xfrm>
          <a:prstGeom prst="rect">
            <a:avLst/>
          </a:prstGeom>
          <a:solidFill>
            <a:srgbClr val="F2B3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Rectangle 4"/>
          <p:cNvSpPr/>
          <p:nvPr/>
        </p:nvSpPr>
        <p:spPr>
          <a:xfrm>
            <a:off x="7914600" y="1078920"/>
            <a:ext cx="3636720" cy="63720"/>
          </a:xfrm>
          <a:prstGeom prst="rect">
            <a:avLst/>
          </a:prstGeom>
          <a:solidFill>
            <a:srgbClr val="3BA7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5"/>
          <p:cNvSpPr/>
          <p:nvPr/>
        </p:nvSpPr>
        <p:spPr>
          <a:xfrm>
            <a:off x="640080" y="6473880"/>
            <a:ext cx="1091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Triage de reportes viales del C5  ·  UNAM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1118592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10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7"/>
          <p:cNvSpPr/>
          <p:nvPr/>
        </p:nvSpPr>
        <p:spPr>
          <a:xfrm>
            <a:off x="640080" y="1371600"/>
            <a:ext cx="10911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5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Organizamos el programa como una </a:t>
            </a:r>
            <a:r>
              <a:rPr lang="en-US" sz="15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línea de montaje</a:t>
            </a:r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(patrón de diseño </a:t>
            </a:r>
            <a:r>
              <a:rPr lang="en-US" sz="1500" b="0" i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Pipeline</a:t>
            </a:r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): cada etapa hace </a:t>
            </a:r>
            <a:r>
              <a:rPr lang="en-US" sz="15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una tarea</a:t>
            </a:r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—limpiar, preparar, predecir— y se encadena.</a:t>
            </a:r>
            <a:endParaRPr lang="es-MX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5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Ventaja: </a:t>
            </a:r>
            <a:r>
              <a:rPr lang="en-US" sz="15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ordenado, reutilizable y fácil de revisar</a:t>
            </a:r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. El diagrama es el </a:t>
            </a:r>
            <a:r>
              <a:rPr lang="en-US" sz="15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mapa</a:t>
            </a:r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del código.</a:t>
            </a:r>
            <a:endParaRPr lang="es-MX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Picture 8" descr="uml_clases.png"/>
          <p:cNvPicPr/>
          <p:nvPr/>
        </p:nvPicPr>
        <p:blipFill>
          <a:blip r:embed="rId1"/>
          <a:stretch/>
        </p:blipFill>
        <p:spPr>
          <a:xfrm>
            <a:off x="2792520" y="2606040"/>
            <a:ext cx="6603480" cy="397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Box 1"/>
          <p:cNvSpPr/>
          <p:nvPr/>
        </p:nvSpPr>
        <p:spPr>
          <a:xfrm>
            <a:off x="640080" y="292680"/>
            <a:ext cx="10911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Demostración en vivo</a:t>
            </a:r>
            <a:endParaRPr lang="es-MX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2"/>
          <p:cNvSpPr/>
          <p:nvPr/>
        </p:nvSpPr>
        <p:spPr>
          <a:xfrm>
            <a:off x="640080" y="1078920"/>
            <a:ext cx="3636720" cy="63720"/>
          </a:xfrm>
          <a:prstGeom prst="rect">
            <a:avLst/>
          </a:prstGeom>
          <a:solidFill>
            <a:srgbClr val="E04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ectangle 3"/>
          <p:cNvSpPr/>
          <p:nvPr/>
        </p:nvSpPr>
        <p:spPr>
          <a:xfrm>
            <a:off x="4277160" y="1078920"/>
            <a:ext cx="3636720" cy="63720"/>
          </a:xfrm>
          <a:prstGeom prst="rect">
            <a:avLst/>
          </a:prstGeom>
          <a:solidFill>
            <a:srgbClr val="F2B3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Rectangle 4"/>
          <p:cNvSpPr/>
          <p:nvPr/>
        </p:nvSpPr>
        <p:spPr>
          <a:xfrm>
            <a:off x="7914600" y="1078920"/>
            <a:ext cx="3636720" cy="63720"/>
          </a:xfrm>
          <a:prstGeom prst="rect">
            <a:avLst/>
          </a:prstGeom>
          <a:solidFill>
            <a:srgbClr val="3BA7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5"/>
          <p:cNvSpPr/>
          <p:nvPr/>
        </p:nvSpPr>
        <p:spPr>
          <a:xfrm>
            <a:off x="640080" y="6473880"/>
            <a:ext cx="1091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Triage de reportes viales del C5  ·  UNAM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6"/>
          <p:cNvSpPr/>
          <p:nvPr/>
        </p:nvSpPr>
        <p:spPr>
          <a:xfrm>
            <a:off x="1118592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11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7"/>
          <p:cNvSpPr/>
          <p:nvPr/>
        </p:nvSpPr>
        <p:spPr>
          <a:xfrm>
            <a:off x="640080" y="1280160"/>
            <a:ext cx="1091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Guardamos el modelo entrenado y lo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volvemos a usar sin re-entrenar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: le damos un reporte nuevo y dice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qué tan probable es que sea real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3" name="Table 8"/>
          <p:cNvGraphicFramePr/>
          <p:nvPr/>
        </p:nvGraphicFramePr>
        <p:xfrm>
          <a:off x="975240" y="2286000"/>
          <a:ext cx="10240920" cy="2011680"/>
        </p:xfrm>
        <a:graphic>
          <a:graphicData uri="http://schemas.openxmlformats.org/drawingml/2006/table">
            <a:tbl>
              <a:tblPr/>
              <a:tblGrid>
                <a:gridCol w="6583680"/>
                <a:gridCol w="3657600"/>
              </a:tblGrid>
              <a:tr h="502920">
                <a:tc>
                  <a:txBody>
                    <a:bodyPr tIns="50760" bIns="507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Reporte nuevo</a:t>
                      </a:r>
                      <a:endParaRPr lang="es-MX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tIns="50760" bIns="507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Probabilidad de ser real</a:t>
                      </a:r>
                      <a:endParaRPr lang="es-MX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 tIns="50760" bIns="507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Cámara · zona centro · choque con lesionados</a:t>
                      </a:r>
                      <a:endParaRPr lang="es-MX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7"/>
                    </a:solidFill>
                  </a:tcPr>
                </a:tc>
                <a:tc>
                  <a:txBody>
                    <a:bodyPr tIns="50760" bIns="507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81 %  →  atender</a:t>
                      </a:r>
                      <a:endParaRPr lang="es-MX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7"/>
                    </a:solidFill>
                  </a:tcPr>
                </a:tc>
              </a:tr>
              <a:tr h="502920">
                <a:tc>
                  <a:txBody>
                    <a:bodyPr tIns="50760" bIns="507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Llamada al 911 · periferia · de madrugada</a:t>
                      </a:r>
                      <a:endParaRPr lang="es-MX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50760" bIns="507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36 %  →  dudoso</a:t>
                      </a:r>
                      <a:endParaRPr lang="es-MX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tIns="50760" bIns="507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Botón de auxilio · choque con lesionados</a:t>
                      </a:r>
                      <a:endParaRPr lang="es-MX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7"/>
                    </a:solidFill>
                  </a:tcPr>
                </a:tc>
                <a:tc>
                  <a:txBody>
                    <a:bodyPr tIns="50760" bIns="507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90 %  →  atender</a:t>
                      </a:r>
                      <a:endParaRPr lang="es-MX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50760" marB="507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7"/>
                    </a:solidFill>
                  </a:tcPr>
                </a:tc>
              </a:tr>
            </a:tbl>
          </a:graphicData>
        </a:graphic>
      </p:graphicFrame>
      <p:sp>
        <p:nvSpPr>
          <p:cNvPr id="144" name="TextBox 9"/>
          <p:cNvSpPr/>
          <p:nvPr/>
        </p:nvSpPr>
        <p:spPr>
          <a:xfrm>
            <a:off x="640080" y="512064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5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En vivo: cargamos el modelo y predecimos un caso; y abrimos el </a:t>
            </a:r>
            <a:r>
              <a:rPr lang="en-US" sz="15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mapa interactivo</a:t>
            </a:r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de la ciudad.</a:t>
            </a:r>
            <a:endParaRPr lang="es-MX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/>
          <p:nvPr/>
        </p:nvSpPr>
        <p:spPr>
          <a:xfrm>
            <a:off x="640080" y="292680"/>
            <a:ext cx="10911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En resumen</a:t>
            </a:r>
            <a:endParaRPr lang="es-MX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2"/>
          <p:cNvSpPr/>
          <p:nvPr/>
        </p:nvSpPr>
        <p:spPr>
          <a:xfrm>
            <a:off x="640080" y="1078920"/>
            <a:ext cx="3636720" cy="63720"/>
          </a:xfrm>
          <a:prstGeom prst="rect">
            <a:avLst/>
          </a:prstGeom>
          <a:solidFill>
            <a:srgbClr val="E04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ectangle 3"/>
          <p:cNvSpPr/>
          <p:nvPr/>
        </p:nvSpPr>
        <p:spPr>
          <a:xfrm>
            <a:off x="4277160" y="1078920"/>
            <a:ext cx="3636720" cy="63720"/>
          </a:xfrm>
          <a:prstGeom prst="rect">
            <a:avLst/>
          </a:prstGeom>
          <a:solidFill>
            <a:srgbClr val="F2B3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Rectangle 4"/>
          <p:cNvSpPr/>
          <p:nvPr/>
        </p:nvSpPr>
        <p:spPr>
          <a:xfrm>
            <a:off x="7914600" y="1078920"/>
            <a:ext cx="3636720" cy="63720"/>
          </a:xfrm>
          <a:prstGeom prst="rect">
            <a:avLst/>
          </a:prstGeom>
          <a:solidFill>
            <a:srgbClr val="3BA7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TextBox 5"/>
          <p:cNvSpPr/>
          <p:nvPr/>
        </p:nvSpPr>
        <p:spPr>
          <a:xfrm>
            <a:off x="640080" y="6473880"/>
            <a:ext cx="1091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Triage de reportes viales del C5  ·  UNAM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6"/>
          <p:cNvSpPr/>
          <p:nvPr/>
        </p:nvSpPr>
        <p:spPr>
          <a:xfrm>
            <a:off x="1118592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A8A8A"/>
                </a:solidFill>
                <a:effectLst/>
                <a:uFillTx/>
                <a:latin typeface="Calibri"/>
              </a:rPr>
              <a:t>12</a:t>
            </a:r>
            <a:endParaRPr lang="es-M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640080" y="1325880"/>
            <a:ext cx="1091124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Quién y cómo reporta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dice mucho: lo institucional es muy confiable; la llamada al 911 es donde está la duda.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El modelo aporta algo que antes no existía: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un filtro de falsas alarmas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que atrapa ~2 de cada 3, sin perder los reales.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Sabemos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en qué avenidas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se concentran los accidentes y cuáles necesitan más verificación.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•  </a:t>
            </a: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Límites:</a:t>
            </a:r>
            <a:r>
              <a:rPr lang="en-US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dependemos de cómo el C5 etiqueta los reportes y de los datos 2022–2024; faltaría contexto (clima, tráfico, qué dijo la llamada).</a:t>
            </a:r>
            <a:endParaRPr lang="es-M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"/>
          <p:cNvSpPr/>
          <p:nvPr/>
        </p:nvSpPr>
        <p:spPr>
          <a:xfrm>
            <a:off x="914400" y="2377440"/>
            <a:ext cx="1035972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¡Gracias!</a:t>
            </a:r>
            <a:endParaRPr lang="es-MX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1001"/>
              </a:spcBef>
            </a:pPr>
            <a:r>
              <a:rPr lang="en-US" sz="1800" b="0" u="none" strike="noStrike">
                <a:solidFill>
                  <a:srgbClr val="DDE6F0"/>
                </a:solidFill>
                <a:effectLst/>
                <a:uFillTx/>
                <a:latin typeface="Calibri"/>
              </a:rPr>
              <a:t>¿Preguntas?</a:t>
            </a:r>
            <a:endParaRPr lang="es-MX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2"/>
          <p:cNvSpPr/>
          <p:nvPr/>
        </p:nvSpPr>
        <p:spPr>
          <a:xfrm>
            <a:off x="2743200" y="6035040"/>
            <a:ext cx="2233800" cy="91080"/>
          </a:xfrm>
          <a:prstGeom prst="rect">
            <a:avLst/>
          </a:prstGeom>
          <a:solidFill>
            <a:srgbClr val="E04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Rectangle 3"/>
          <p:cNvSpPr/>
          <p:nvPr/>
        </p:nvSpPr>
        <p:spPr>
          <a:xfrm>
            <a:off x="4977360" y="6035040"/>
            <a:ext cx="2233800" cy="91080"/>
          </a:xfrm>
          <a:prstGeom prst="rect">
            <a:avLst/>
          </a:prstGeom>
          <a:solidFill>
            <a:srgbClr val="F2B3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Rectangle 4"/>
          <p:cNvSpPr/>
          <p:nvPr/>
        </p:nvSpPr>
        <p:spPr>
          <a:xfrm>
            <a:off x="7211520" y="6035040"/>
            <a:ext cx="2233800" cy="91080"/>
          </a:xfrm>
          <a:prstGeom prst="rect">
            <a:avLst/>
          </a:prstGeom>
          <a:solidFill>
            <a:srgbClr val="3BA7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LibreOffice/26.2.3.2$MacOSX_AARCH64 LibreOffice_project/70e089b17412e4cb7773e41413306b17a2328c34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es-MX</dc:language>
  <cp:lastModifiedBy/>
  <dcterms:modified xsi:type="dcterms:W3CDTF">2026-06-10T21:30:40Z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